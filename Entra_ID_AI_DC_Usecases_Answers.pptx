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468880"/>
            <a:ext cx="10728655" cy="1188720"/>
          </a:xfrm>
          <a:prstGeom prst="rect">
            <a:avLst/>
          </a:prstGeom>
          <a:noFill/>
          <a:ln/>
        </p:spPr>
        <p:txBody>
          <a:bodyPr wrap="square" rtlCol="0" anchor="ctr"/>
          <a:lstStyle/>
          <a:p>
            <a:pPr algn="l" indent="0" marL="0">
              <a:buNone/>
            </a:pPr>
            <a:r>
              <a:rPr lang="en-US" sz="4000" b="1" dirty="0">
                <a:solidFill>
                  <a:srgbClr val="1E2761"/>
                </a:solidFill>
                <a:latin typeface="Cambria" pitchFamily="34" charset="0"/>
                <a:ea typeface="Cambria" pitchFamily="34" charset="-122"/>
                <a:cs typeface="Cambria" pitchFamily="34" charset="-120"/>
              </a:rPr>
              <a:t>Microsoft Entra ID &amp; AI/DC Use Cases</a:t>
            </a:r>
            <a:endParaRPr lang="en-US" sz="4000" dirty="0"/>
          </a:p>
        </p:txBody>
      </p:sp>
      <p:sp>
        <p:nvSpPr>
          <p:cNvPr id="3" name="Text 1"/>
          <p:cNvSpPr/>
          <p:nvPr/>
        </p:nvSpPr>
        <p:spPr>
          <a:xfrm>
            <a:off x="731520" y="3566160"/>
            <a:ext cx="10728655" cy="640080"/>
          </a:xfrm>
          <a:prstGeom prst="rect">
            <a:avLst/>
          </a:prstGeom>
          <a:noFill/>
          <a:ln/>
        </p:spPr>
        <p:txBody>
          <a:bodyPr wrap="square" rtlCol="0" anchor="ctr"/>
          <a:lstStyle/>
          <a:p>
            <a:pPr algn="l" indent="0" marL="0">
              <a:buNone/>
            </a:pPr>
            <a:r>
              <a:rPr lang="en-US" sz="2000" dirty="0">
                <a:solidFill>
                  <a:srgbClr val="36454F"/>
                </a:solidFill>
                <a:latin typeface="Calibri" pitchFamily="34" charset="0"/>
                <a:ea typeface="Calibri" pitchFamily="34" charset="-122"/>
                <a:cs typeface="Calibri" pitchFamily="34" charset="-120"/>
              </a:rPr>
              <a:t>20 Scenario-Based Questions | Answer Key</a:t>
            </a:r>
            <a:endParaRPr lang="en-US" sz="2000" dirty="0"/>
          </a:p>
        </p:txBody>
      </p:sp>
      <p:sp>
        <p:nvSpPr>
          <p:cNvPr id="4" name="Text 2"/>
          <p:cNvSpPr/>
          <p:nvPr/>
        </p:nvSpPr>
        <p:spPr>
          <a:xfrm>
            <a:off x="731520" y="6035040"/>
            <a:ext cx="10728655" cy="365760"/>
          </a:xfrm>
          <a:prstGeom prst="rect">
            <a:avLst/>
          </a:prstGeom>
          <a:noFill/>
          <a:ln/>
        </p:spPr>
        <p:txBody>
          <a:bodyPr wrap="square" rtlCol="0" anchor="ctr"/>
          <a:lstStyle/>
          <a:p>
            <a:pPr algn="l" indent="0" marL="0">
              <a:buNone/>
            </a:pPr>
            <a:r>
              <a:rPr lang="en-US" sz="1300" dirty="0">
                <a:solidFill>
                  <a:srgbClr val="6B6B6B"/>
                </a:solidFill>
                <a:latin typeface="Calibri" pitchFamily="34" charset="0"/>
                <a:ea typeface="Calibri" pitchFamily="34" charset="-122"/>
                <a:cs typeface="Calibri" pitchFamily="34" charset="-120"/>
              </a:rPr>
              <a:t>Part 2 of 2 — Answers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Entra ID Concepts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company runs AI model-training clusters split across two on-prem data centers and Azure. They want single sign-on for data scientists without depending on LDAP or Kerberos.</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Which Entra ID characteristic makes it suitable here, and what protocols replace LDAP and Kerberos?</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Entra ID is an HTTP/HTTPS-native identity service, not a domain-based directory. It is queried via the REST API instead of LDAP, and uses SAML, WS-Federation, and OpenID Connect for authentication (OAuth for authorization) instead of Kerberos — making it well suited for distributed, internet-facing AI compute spread across data centers and cloud.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Q2</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Workload Identity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ML engineering team spins up GPU virtual machines on demand. Each VM must read secrets from Azure Key Vault to load model weights, but the team wants to avoid storing any credentials on the VM image.</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Which Entra ID feature should be used, and why does it avoid credential storage?</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Use a Managed Identity (system-assigned or user-assigned). Entra ID automatically manages and rotates the underlying credentials, and the VM authenticates to Key Vault using a token obtained from the Azure Instance Metadata Service — no secret is ever stored on the VM.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Q3</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Entra ID Join</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Data scientists' Windows workstations are Entra ID Joined. The organization wants SSO to managed SaaS apps, roaming of user settings across devices, and Microsoft Store for Business access — all without extra configuration.</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Which single Entra ID capability delivers all three benefits, and what additional security control can be layered on for AI workstations?</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Entra ID Join provides SSO to Azure-managed SaaS apps, enterprise state roaming, and Microsoft Store for Business access by default. Administrators can additionally restrict access to apps from only compliant devices, ensuring only managed, policy-compliant machines can reach sensitive AI resources.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Q4</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Group Management</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As employees move into the 'AI Engineering' job title, the data center operations team wants them automatically added to the correct access group, with no manual group editing.</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group configuration solves this, and which assignment type is required?</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Create a Security Group with Dynamic User membership and a rule based on the jobTitle attribute (e.g., jobTitle -eq "AI Engineer"). Membership updates automatically as user profile attributes change, removing the need for manual additions or removals.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Q5</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Multi-Tenant Governance</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multinational AI company keeps separate Entra ID tenants for its US and EU data centers for data-sovereignty reasons, but occasionally needs to let an EU data scientist collaborate on a US-hosted AI project.</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Describe the relationship between the two tenants and how cross-tenant collaboration should be enabled.</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Each Entra ID organization (tenant) is fully independent — a logical peer with no parent-child relationship, and independent resources, administration, and synchronization. Cross-tenant collaboration is enabled through Entra ID B2B guest invitations, scoped to only the specific resources the EU user needs in the US tenant.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Q6</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Self-Service Password Reset</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Security wants AI lab users to be able to reset their own passwords, but policy requires at least two authentication methods and mandatory registration, similar to MFA enforcement.</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How should SSPR be configured to meet this policy?</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Enable SSPR for the relevant users/groups, set the required number of authentication methods to 2 (selecting from email, phone, and security questions), and enable the SSPR registration enforcement option so users are required to register methods at next sign-in, mirroring MFA registration behavior.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Q7</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Bulk User Provisioning</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The company is onboarding 5,000 AI researchers from an HR system using a bulk CSV import into Entra ID.</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key implementation considerations must the import script account for?</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The script should build a CSV with all user properties, then loop through each row handling: error handling for malformed rows, duplicate-user detection, initial password settings, empty/optional properties, and whether each account should be created in an enabled or disabled state.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Q8</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Privileged Access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third-party vendor needs temporary elevated access to update GPU cluster firmware in the data center, but should never hold a standing Global Administrator role.</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Which Entra ID capability enforces least-privilege, time-bound access here?</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Privileged Identity Management (PIM) should be used to make the required role eligible rather than permanently assigned. The vendor activates the role just-in-time, for a limited duration, with approval and audit logging, then access automatically expires.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Q9</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Conditional Access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Sensitive AI training datasets are exposed through an API protected by Entra ID. Security wants access allowed only from compliant, managed devices connecting from approved data center network locations.</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Which Entra ID feature(s) enforce this, and how are the two requirements combined?</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Conditional Access policies enforce this by combining a device-compliance condition (requiring Intune-compliant devices) with a named-location condition (restricting sign-in to approved data center IP ranges). Both conditions are combined in a single policy so access is granted only when all conditions are satisfied.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Q10</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Workload Identity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AI inference service running as an Azure Function needs to call Microsoft Graph to read calendar data, but the team wants to avoid embedding client secrets in code or configuration.</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identity model should be used, and what must still be configured separately?</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Assign the Azure Function a Managed Identity (system- or user-assigned). Credentials are fully managed by Entra ID. Separately, the required Microsoft Graph API permissions (e.g., Calendars.Read) must still be granted to that identity and admin-consented, since the managed identity removes secret management, not permission scoping.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Q11</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AD DS vs Entra ID</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legacy on-prem AI data pipeline tool only supports LDAP queries and Kerberos authentication, but the organization is migrating identity to Entra ID.</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is the core compatibility gap, and how is it typically addressed?</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Entra ID does not natively support LDAP or Kerberos — it is REST/HTTPS-based with SAML/OIDC/OAuth. To support legacy LDAP/Kerberos-dependent tools, organizations typically deploy Microsoft Entra Domain Services (a managed AD DS-compatible service) or maintain hybrid AD DS alongside Entra ID via directory synchronization.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Q12</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Identity Governance</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Guest accounts were created over time for partners assisting with an AI compute cluster project. Compliance wants stale guest access removed automatically on a recurring schedule.</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Which Entra ID governance feature should be configured?</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Configure Access Reviews (an Entra ID Governance / Premium P2 feature) on the relevant group or resource, scheduled quarterly, with reviewers required to approve or deny continued access — automatically removing guests who are denied or who don't respond, depending on policy.</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Q13</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Licensing / Editions</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The security team wants to roll out Conditional Access and Privileged Identity Management to protect administrative accounts tied to the AI data center.</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is the minimum Entra ID edition required, and why?</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Entra ID Premium P2 is required. While Conditional Access is available starting at P1, PIM (along with Identity Protection and Access Reviews) is a P2-exclusive capability, so P2 is the minimum edition that covers both requirements together.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Q14</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Hybrid Identity</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 new data center expansion still relies on an on-prem Active Directory for some legacy systems, but new AI applications need cloud SSO through Entra ID.</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mechanism bridges the two environments, and what type of user identity results?</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Microsoft Entra Connect (Azure AD Connect) synchronizes on-prem AD DS objects into Entra ID, creating directory-synchronized (hybrid) identities — letting users authenticate to cloud AI applications via Entra ID while their source of authority remains the on-prem directory.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Q15</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Group Types</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The organization needs one set of groups purely to control RBAC access to AI compute resources, and a separate set to give AI project teams shared mailboxes, calendars, and Teams channels.</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Which two group types map to these needs respectively?</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Security groups should be used for controlling access to resources (RBAC on AI compute, storage, etc.). Microsoft 365 groups should be used for collaboration — they provision a shared mailbox, calendar, SharePoint site, and Teams channel for the AI project team.</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Q16</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Group Management</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GPU Lab automation accounts register devices following a strict naming convention. The team wants a group that automatically contains every device matching that pattern, without manual additions.</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group configuration is appropriate?</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Create a Security Group with Dynamic Device membership, using a rule that matches the device naming convention (e.g., device.displayName -startsWith "GPULAB-"). Devices are automatically added or removed as they're registered or deregistered.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Q17</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User Lifecycle</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AI researcher's account was deleted as part of an offboarding process, but it was later discovered they were terminated in error and still need access to in-progress model artifacts.</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Can the account be recovered, within what window, and what is restored along with it?</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Deleted Entra ID user accounts can be restored within 30 days of deletion. Restoring the account also restores its group memberships and assigned licenses, so the researcher's access to AI project groups and resources returns intact rather than needing to be rebuilt manually.</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Q18</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Role-Based Administration</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operations lead needs to bulk-create AI lab accounts and reset researcher passwords, but the security team refuses to grant a permanent Global Administrator role for this.</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is the least-privilege role assignment that satisfies the requirement?</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Assign the User Administrator role. It permits creating and managing users (including bulk creation) and resetting non-administrator passwords, without granting the broad, tenant-wide permissions of Global Administrator.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Q19</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B2B Collaboration / AI-DC</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An external partner company's data scientists need access to one specific AI resource group in the data center's Azure subscription, but must have zero visibility into any other tenant resources.</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What is the correct, least-privilege way to grant this access?</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Invite the partner's users as Entra ID B2B guest accounts in the tenant, then assign Azure RBAC roles (e.g., Contributor or a custom role) scoped specifically to that one resource group — not at the subscription or tenant level — so guest access is confined to exactly the intended scope.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64592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Q20</a:t>
            </a:r>
            <a:endParaRPr lang="en-US" sz="2400" dirty="0"/>
          </a:p>
        </p:txBody>
      </p:sp>
      <p:sp>
        <p:nvSpPr>
          <p:cNvPr id="3" name="Text 1"/>
          <p:cNvSpPr/>
          <p:nvPr/>
        </p:nvSpPr>
        <p:spPr>
          <a:xfrm>
            <a:off x="6888175" y="502920"/>
            <a:ext cx="4572000" cy="502920"/>
          </a:xfrm>
          <a:prstGeom prst="rect">
            <a:avLst/>
          </a:prstGeom>
          <a:noFill/>
          <a:ln/>
        </p:spPr>
        <p:txBody>
          <a:bodyPr wrap="square" lIns="0" tIns="0" rIns="0" bIns="0" rtlCol="0" anchor="ctr"/>
          <a:lstStyle/>
          <a:p>
            <a:pPr algn="r" indent="0" marL="0">
              <a:buNone/>
            </a:pPr>
            <a:r>
              <a:rPr lang="en-US" sz="1400" i="1" dirty="0">
                <a:solidFill>
                  <a:srgbClr val="6B6B6B"/>
                </a:solidFill>
                <a:latin typeface="Calibri" pitchFamily="34" charset="0"/>
                <a:ea typeface="Calibri" pitchFamily="34" charset="-122"/>
                <a:cs typeface="Calibri" pitchFamily="34" charset="-120"/>
              </a:rPr>
              <a:t>Auditing &amp; Compliance</a:t>
            </a:r>
            <a:endParaRPr lang="en-US" sz="1400" dirty="0"/>
          </a:p>
        </p:txBody>
      </p:sp>
      <p:sp>
        <p:nvSpPr>
          <p:cNvPr id="4" name="Shape 2"/>
          <p:cNvSpPr/>
          <p:nvPr/>
        </p:nvSpPr>
        <p:spPr>
          <a:xfrm>
            <a:off x="731520" y="1097280"/>
            <a:ext cx="10728655" cy="0"/>
          </a:xfrm>
          <a:prstGeom prst="line">
            <a:avLst/>
          </a:prstGeom>
          <a:noFill/>
          <a:ln w="12700">
            <a:solidFill>
              <a:srgbClr val="D9D9D9"/>
            </a:solidFill>
            <a:prstDash val="solid"/>
          </a:ln>
        </p:spPr>
      </p:sp>
      <p:sp>
        <p:nvSpPr>
          <p:cNvPr id="5" name="Text 3"/>
          <p:cNvSpPr/>
          <p:nvPr/>
        </p:nvSpPr>
        <p:spPr>
          <a:xfrm>
            <a:off x="731520" y="1325880"/>
            <a:ext cx="1072865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Scenario</a:t>
            </a:r>
            <a:endParaRPr lang="en-US" sz="1400" dirty="0"/>
          </a:p>
        </p:txBody>
      </p:sp>
      <p:sp>
        <p:nvSpPr>
          <p:cNvPr id="6" name="Text 4"/>
          <p:cNvSpPr/>
          <p:nvPr/>
        </p:nvSpPr>
        <p:spPr>
          <a:xfrm>
            <a:off x="731520" y="1691640"/>
            <a:ext cx="10728655" cy="1463040"/>
          </a:xfrm>
          <a:prstGeom prst="rect">
            <a:avLst/>
          </a:prstGeom>
          <a:noFill/>
          <a:ln/>
        </p:spPr>
        <p:txBody>
          <a:bodyPr wrap="square" lIns="0" tIns="0" rIns="0" bIns="0" rtlCol="0" anchor="t"/>
          <a:lstStyle/>
          <a:p>
            <a:pPr indent="0" marL="0">
              <a:buNone/>
            </a:pPr>
            <a:r>
              <a:rPr lang="en-US" sz="1700" dirty="0">
                <a:solidFill>
                  <a:srgbClr val="36454F"/>
                </a:solidFill>
                <a:latin typeface="Calibri" pitchFamily="34" charset="0"/>
                <a:ea typeface="Calibri" pitchFamily="34" charset="-122"/>
                <a:cs typeface="Calibri" pitchFamily="34" charset="-120"/>
              </a:rPr>
              <a:t>Compliance requires proof of who accessed sensitive AI training data hosted in the data center's storage, and logs must be retained well beyond Entra ID's default retention period.</a:t>
            </a:r>
            <a:endParaRPr lang="en-US" sz="1700" dirty="0"/>
          </a:p>
        </p:txBody>
      </p:sp>
      <p:sp>
        <p:nvSpPr>
          <p:cNvPr id="7" name="Text 5"/>
          <p:cNvSpPr/>
          <p:nvPr/>
        </p:nvSpPr>
        <p:spPr>
          <a:xfrm>
            <a:off x="731520" y="3474720"/>
            <a:ext cx="10728655"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Question</a:t>
            </a:r>
            <a:endParaRPr lang="en-US" sz="1300" dirty="0"/>
          </a:p>
        </p:txBody>
      </p:sp>
      <p:sp>
        <p:nvSpPr>
          <p:cNvPr id="8" name="Text 6"/>
          <p:cNvSpPr/>
          <p:nvPr/>
        </p:nvSpPr>
        <p:spPr>
          <a:xfrm>
            <a:off x="731520" y="3794760"/>
            <a:ext cx="10728655" cy="548640"/>
          </a:xfrm>
          <a:prstGeom prst="rect">
            <a:avLst/>
          </a:prstGeom>
          <a:noFill/>
          <a:ln/>
        </p:spPr>
        <p:txBody>
          <a:bodyPr wrap="square" lIns="0" tIns="0" rIns="0" bIns="0" rtlCol="0" anchor="t"/>
          <a:lstStyle/>
          <a:p>
            <a:pPr indent="0" marL="0">
              <a:buNone/>
            </a:pPr>
            <a:r>
              <a:rPr lang="en-US" sz="1500" i="1" dirty="0">
                <a:solidFill>
                  <a:srgbClr val="36454F"/>
                </a:solidFill>
                <a:latin typeface="Calibri" pitchFamily="34" charset="0"/>
                <a:ea typeface="Calibri" pitchFamily="34" charset="-122"/>
                <a:cs typeface="Calibri" pitchFamily="34" charset="-120"/>
              </a:rPr>
              <a:t>Which native Entra ID capability provides this data, and how is long-term retention achieved?</a:t>
            </a:r>
            <a:endParaRPr lang="en-US" sz="1500" dirty="0"/>
          </a:p>
        </p:txBody>
      </p:sp>
      <p:sp>
        <p:nvSpPr>
          <p:cNvPr id="9" name="Text 7"/>
          <p:cNvSpPr/>
          <p:nvPr/>
        </p:nvSpPr>
        <p:spPr>
          <a:xfrm>
            <a:off x="731520" y="4480560"/>
            <a:ext cx="10728655"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Answer</a:t>
            </a:r>
            <a:endParaRPr lang="en-US" sz="1400" dirty="0"/>
          </a:p>
        </p:txBody>
      </p:sp>
      <p:sp>
        <p:nvSpPr>
          <p:cNvPr id="10" name="Text 8"/>
          <p:cNvSpPr/>
          <p:nvPr/>
        </p:nvSpPr>
        <p:spPr>
          <a:xfrm>
            <a:off x="731520" y="4828032"/>
            <a:ext cx="10728655" cy="182880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Entra ID's sign-in logs and audit logs provide native authentication and administrative activity records for users and apps. To retain them beyond the default window, they should be exported to Azure Monitor / Log Analytics (or streamed to Microsoft Sentinel / a storage account) for long-term retention and compliance reporting.</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0"/>
            <a:ext cx="10728655" cy="914400"/>
          </a:xfrm>
          <a:prstGeom prst="rect">
            <a:avLst/>
          </a:prstGeom>
          <a:noFill/>
          <a:ln/>
        </p:spPr>
        <p:txBody>
          <a:bodyPr wrap="square"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Thank You</a:t>
            </a:r>
            <a:endParaRPr lang="en-US" sz="3400" dirty="0"/>
          </a:p>
        </p:txBody>
      </p:sp>
      <p:sp>
        <p:nvSpPr>
          <p:cNvPr id="3" name="Text 1"/>
          <p:cNvSpPr/>
          <p:nvPr/>
        </p:nvSpPr>
        <p:spPr>
          <a:xfrm>
            <a:off x="731520" y="3657600"/>
            <a:ext cx="10728655" cy="548640"/>
          </a:xfrm>
          <a:prstGeom prst="rect">
            <a:avLst/>
          </a:prstGeom>
          <a:noFill/>
          <a:ln/>
        </p:spPr>
        <p:txBody>
          <a:bodyPr wrap="square" rtlCol="0" anchor="ctr"/>
          <a:lstStyle/>
          <a:p>
            <a:pPr algn="l" indent="0" marL="0">
              <a:buNone/>
            </a:pPr>
            <a:r>
              <a:rPr lang="en-US" sz="1800" dirty="0">
                <a:solidFill>
                  <a:srgbClr val="36454F"/>
                </a:solidFill>
                <a:latin typeface="Calibri" pitchFamily="34" charset="0"/>
                <a:ea typeface="Calibri" pitchFamily="34" charset="-122"/>
                <a:cs typeface="Calibri" pitchFamily="34" charset="-120"/>
              </a:rPr>
              <a:t>End of Answer Key — Microsoft Entra ID &amp; AI/DC Use Cases.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Entra ID &amp; AI/Data Center Use Cases - Answers</dc:title>
  <dc:subject>PptxGenJS Presentation</dc:subject>
  <dc:creator>Azure Training</dc:creator>
  <cp:lastModifiedBy>Azure Training</cp:lastModifiedBy>
  <cp:revision>1</cp:revision>
  <dcterms:created xsi:type="dcterms:W3CDTF">2026-06-21T02:49:53Z</dcterms:created>
  <dcterms:modified xsi:type="dcterms:W3CDTF">2026-06-21T02:49:53Z</dcterms:modified>
</cp:coreProperties>
</file>